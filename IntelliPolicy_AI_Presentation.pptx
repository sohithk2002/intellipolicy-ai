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07FC8"/>
                </a:solidFill>
                <a:latin typeface="Calibri"/>
              </a:rPr>
              <a:t>C O T I V I T 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3840480" cy="347472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5039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Topic 3  ·  Content Management in Health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IntelliPolicy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0428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7FC8"/>
                </a:solidFill>
                <a:latin typeface="Calibri"/>
              </a:rPr>
              <a:t>Intelligent Policy Content Management for Healthcare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8046720" cy="2743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Submitted by: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90672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Sohith Kampalli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5661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Assessment: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5661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Cotiviti Software Engineer Intern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4164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Topic: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04164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Content Management in Health Care — Billing Policies, Summarization, Rule Conversion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17136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POC Stack: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517136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Next.js 14  ·  FastAPI  ·  Python 3.13  ·  BAAI BGE  ·  RAG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99262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Date: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992624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June 30,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7FC8"/>
                </a:solidFill>
                <a:latin typeface="Calibri"/>
              </a:rPr>
              <a:t>Research Report  · 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Is Content Management in Health Care?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8412480" cy="132588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7FC8"/>
                </a:solidFill>
                <a:latin typeface="Calibri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8046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Content Management in Health Care is the systematic ingestion, organisation, interpretation, and transformation of clinical and administrative documents — including billing and coding policies, clinical practice guidelines, and payer-provider contracts — into structured, machine-readable formats that enable automated decision-making, audit, and compliance.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2651760" cy="29718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📄  Billing &amp; Coding
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015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CMS manuals, CPT/ICD-10
crosswalks, prior-auth rules,
frequency limits — updated
quarterly across 50+ payers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606040"/>
            <a:ext cx="2651760" cy="2971800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697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📋  Clinical Practice
Guidelines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34015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Evidence-based care pathways,
medical necessity criteria,
treatment protocols — differ
by plan type and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606040"/>
            <a:ext cx="2651760" cy="29718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697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🤝  Payer-Provider
Contracts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4015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Fee schedules, bundled payment
rules, carve-outs, and network
terms — renegotiated annually,
highly variable across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840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B2D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3840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B2D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7FC8"/>
                </a:solidFill>
                <a:latin typeface="Calibri"/>
              </a:rPr>
              <a:t>Research Report  ·  Section 2 &amp;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Trends  ·  Opportunities  · 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54864" cy="521208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7FC8"/>
                </a:solidFill>
                <a:latin typeface="Calibri"/>
              </a:rPr>
              <a:t>KEY TRENDS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3520440" cy="1078992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LLMs for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6479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GPT-4, Gemini, Claude now read
200-page PDFs in seconds and
answer coverage questions
with citations.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3520440" cy="1078992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RAG Pipelines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Retrieval-Augmented Generation
grounds AI answers in specific
document evidence — critical
for regulatory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60"/>
            <a:ext cx="3520440" cy="1078992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58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Rule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4223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NLP converts written policy into
machine-readable IF/THEN logic
for automated claims adjudication
and real-time validation.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83480"/>
            <a:ext cx="3520440" cy="1078992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4748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Automated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3095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AI detects changes between policy
versions instantly — replacing
manual review cycles that take
weeks.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078992"/>
            <a:ext cx="54864" cy="2377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0789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  <a:latin typeface="Calibri"/>
              </a:rPr>
              <a:t>OPPORTUNITIES FOR COTIVITI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1417320"/>
            <a:ext cx="4480560" cy="457200"/>
          </a:xfrm>
          <a:prstGeom prst="rect">
            <a:avLst/>
          </a:prstGeom>
          <a:solidFill>
            <a:srgbClr val="162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C55E"/>
                </a:solidFill>
                <a:latin typeface="Calibri"/>
              </a:rPr>
              <a:t>✓  Automate prior-auth policy review — reduce analyst handle time by 60–80%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1947672"/>
            <a:ext cx="4480560" cy="457200"/>
          </a:xfrm>
          <a:prstGeom prst="rect">
            <a:avLst/>
          </a:prstGeom>
          <a:solidFill>
            <a:srgbClr val="162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011679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C55E"/>
                </a:solidFill>
                <a:latin typeface="Calibri"/>
              </a:rPr>
              <a:t>✓  Real-time CPT/ICD-10 claims adjudication against extracted policy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2478024"/>
            <a:ext cx="4480560" cy="457200"/>
          </a:xfrm>
          <a:prstGeom prst="rect">
            <a:avLst/>
          </a:prstGeom>
          <a:solidFill>
            <a:srgbClr val="162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2542032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C55E"/>
                </a:solidFill>
                <a:latin typeface="Calibri"/>
              </a:rPr>
              <a:t>✓  Instant policy version diff — surface coverage changes on day of publication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3008376"/>
            <a:ext cx="4480560" cy="457200"/>
          </a:xfrm>
          <a:prstGeom prst="rect">
            <a:avLst/>
          </a:prstGeom>
          <a:solidFill>
            <a:srgbClr val="162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072384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C55E"/>
                </a:solidFill>
                <a:latin typeface="Calibri"/>
              </a:rPr>
              <a:t>✓  Full audit trail for every AI decision — defensible compliance evidence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0" y="3657600"/>
            <a:ext cx="54864" cy="2606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THREATS &amp; CHALLENGES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3995928"/>
            <a:ext cx="4480560" cy="475488"/>
          </a:xfrm>
          <a:prstGeom prst="rect">
            <a:avLst/>
          </a:prstGeom>
          <a:solidFill>
            <a:srgbClr val="2F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05993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⚠  LLM hallucination in clinical context — wrong coverage decisions risk patient harm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34840" y="4544568"/>
            <a:ext cx="4480560" cy="475488"/>
          </a:xfrm>
          <a:prstGeom prst="rect">
            <a:avLst/>
          </a:prstGeom>
          <a:solidFill>
            <a:srgbClr val="2F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60857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⚠  PHI and HIPAA compliance — AI systems handling policies must be audit-compliant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5093208"/>
            <a:ext cx="4480560" cy="475488"/>
          </a:xfrm>
          <a:prstGeom prst="rect">
            <a:avLst/>
          </a:prstGeom>
          <a:solidFill>
            <a:srgbClr val="2F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515721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⚠  Model drift — policies update quarterly; embeddings must be refreshed to match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4840" y="5641848"/>
            <a:ext cx="4480560" cy="475488"/>
          </a:xfrm>
          <a:prstGeom prst="rect">
            <a:avLst/>
          </a:prstGeom>
          <a:solidFill>
            <a:srgbClr val="2F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705856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⚠  Vendor dependency — reliance on OpenAI/Google APIs creates cost and availability risk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7FC8"/>
                </a:solidFill>
                <a:latin typeface="Calibri"/>
              </a:rPr>
              <a:t>Research Report  · 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Strategic Proposals for Cotiviti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8503920" cy="16642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640080" cy="16642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70992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23444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Build a Policy Intelligence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75895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F3FB"/>
                </a:solidFill>
                <a:latin typeface="Calibri"/>
              </a:rPr>
              <a:t>Invest in a RAG-based internal platform that ingests all payer policy PDFs on publication and makes them queryable by analysts and adjudication systems in real time — eliminating manual review cycles and reducing prior-auth processing time from days to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68880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FBBF24"/>
                </a:solidFill>
                <a:latin typeface="Calibri"/>
              </a:rPr>
              <a:t>Impact: 60–80% reduction in analyst policy-review time per claim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26080"/>
            <a:ext cx="8503920" cy="1664208"/>
          </a:xfrm>
          <a:prstGeom prst="rect">
            <a:avLst/>
          </a:prstGeom>
          <a:solidFill>
            <a:srgbClr val="0E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640080" cy="16642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349300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1752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Automate Rule-to-Code Conversion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83280"/>
            <a:ext cx="75895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F3FB"/>
                </a:solidFill>
                <a:latin typeface="Calibri"/>
              </a:rPr>
              <a:t>Use LLM-powered rule extraction to automatically convert written billing and coding policies into structured IF/THEN business rules that feed directly into claims adjudication engines — replacing manual rule coding by engineers and reducing update lag from weeks to hours.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51960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FBBF24"/>
                </a:solidFill>
                <a:latin typeface="Calibri"/>
              </a:rPr>
              <a:t>Impact: Faster policy-to-production cycles; fewer coding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709160"/>
            <a:ext cx="8503920" cy="1664208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709160"/>
            <a:ext cx="640080" cy="16642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5276088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0060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Deploy AI-Powered Policy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166360"/>
            <a:ext cx="75895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F3FB"/>
                </a:solidFill>
                <a:latin typeface="Calibri"/>
              </a:rPr>
              <a:t>Instrument every coverage decision with a structured audit log capturing retrieved evidence, reasoning steps, and confidence scores. This creates defensible compliance documentation for CMS audits, provider appeals, and internal quality assurance — a key differentiator in Cotiviti's payment accuracy solutions.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6035040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FBBF24"/>
                </a:solidFill>
                <a:latin typeface="Calibri"/>
              </a:rPr>
              <a:t>Impact: Audit-ready documentation; reduced appeal liability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7FC8"/>
                </a:solidFill>
                <a:latin typeface="Calibri"/>
              </a:rPr>
              <a:t>Hackathon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IntelliPolicy AI —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8503920" cy="59436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3385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IntelliPolicy AI proves that written healthcare policy can be automatically ingested, queried in natural language, converted into structured business rules, and used to validate insurance claims — with a full audit trail on every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7FC8"/>
                </a:solidFill>
                <a:latin typeface="Calibri"/>
              </a:rPr>
              <a:t>HOW IT WORKS  —  5-Step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212848"/>
            <a:ext cx="1572768" cy="22860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212848"/>
            <a:ext cx="1572768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2249424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①
Upload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743200"/>
            <a:ext cx="1426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pdfplumber
extracts text
by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1095" y="315468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2212848"/>
            <a:ext cx="1572768" cy="22860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2212848"/>
            <a:ext cx="1572768" cy="4572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12264" y="2249424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②
Chunk &amp; Embed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2264" y="2743200"/>
            <a:ext cx="1426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512-token chunks
BAA bge-small
384-dim vectors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315468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58183" y="2212848"/>
            <a:ext cx="1572768" cy="22860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58183" y="2212848"/>
            <a:ext cx="1572768" cy="457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31335" y="2249424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0D2E"/>
                </a:solidFill>
                <a:latin typeface="Calibri"/>
              </a:rPr>
              <a:t>③
Hybrid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2743200"/>
            <a:ext cx="1426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70% semantic
30% keyword
fused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15468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7255" y="2212848"/>
            <a:ext cx="1572768" cy="22860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77255" y="2212848"/>
            <a:ext cx="1572768" cy="457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7" y="2249424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④
LLM Generate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7" y="2743200"/>
            <a:ext cx="1426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Gemini/Claude
structured JSON
with citations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8312" y="315468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6327" y="2212848"/>
            <a:ext cx="1572768" cy="2286000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7" y="2212848"/>
            <a:ext cx="1572768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79" y="2249424"/>
            <a:ext cx="14264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⑤
Audit &amp; Validate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79" y="2743200"/>
            <a:ext cx="142646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7FC8"/>
                </a:solidFill>
                <a:latin typeface="Calibri"/>
              </a:rPr>
              <a:t>Rule extraction
Claims check
Full audit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6451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7FC8"/>
                </a:solidFill>
                <a:latin typeface="Calibri"/>
              </a:rPr>
              <a:t>6 WORKING FEATURES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983480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503834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📥 Upload Documents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294376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Ingest any policy PDF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72968" y="4983480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82696" y="503834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🤖 AI Assistant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82696" y="5294376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Natural language Q&amp;A with citations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5896" y="4983480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5624" y="503834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⚖  Policy Compare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5294376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Version diff with risk scoring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641848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" y="56967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📋 Rule Extraction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952744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IF/THEN business rule parser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72968" y="5641848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82696" y="56967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🛡 Claims Validator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82696" y="5952744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CPT + ICD-10 claim decision engine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25896" y="5641848"/>
            <a:ext cx="2697480" cy="566928"/>
          </a:xfrm>
          <a:prstGeom prst="rect">
            <a:avLst/>
          </a:prstGeom>
          <a:solidFill>
            <a:srgbClr val="2A1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5624" y="56967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  <a:latin typeface="Calibri"/>
              </a:rPr>
              <a:t>🔎 Audit Trail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5952744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7FC8"/>
                </a:solidFill>
                <a:latin typeface="Calibri"/>
              </a:rPr>
              <a:t>Full immutable decision log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7FC8"/>
                </a:solidFill>
                <a:latin typeface="Calibri"/>
              </a:rPr>
              <a:t>Hackathon POC  · 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15568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15568"/>
            <a:ext cx="822960" cy="16642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618488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1
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1207008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Go to Upload Documents → Load Sample → select prior_authorization_policy_2026.pdf
System chunks it into 512-token segments and embeds each one using BAAI/bge-small-en-v1.5.
Result: document indexed and ready for querying in under 10 seconds.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79" y="1115568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79" y="1115568"/>
            <a:ext cx="822960" cy="1664208"/>
          </a:xfrm>
          <a:prstGeom prst="rect">
            <a:avLst/>
          </a:prstGeom>
          <a:solidFill>
            <a:srgbClr val="0E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28031" y="1618488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2
AI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7" y="1207008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Ask: 'What services require prior authorization?'
RAG pipeline retrieves the 5 most relevant policy chunks, filters boilerplate,
sends to Gemini → returns structured answer with page citations and confidence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926080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926080"/>
            <a:ext cx="822960" cy="1664208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3429000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3
Rule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0175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Select document → Extract Rules.
LLM parses policy text into structured IF/THEN business rules with CPT codes,
plan types, prior-auth flags, and documentation requirements.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2926080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79" y="2926080"/>
            <a:ext cx="822960" cy="1664208"/>
          </a:xfrm>
          <a:prstGeom prst="rect">
            <a:avLst/>
          </a:prstGeom>
          <a:solidFill>
            <a:srgbClr val="5B21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1" y="3429000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4
Claims Validator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7" y="30175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Click 'Send to Claims Validator' — CPT code and procedure auto-populate.
Add a diagnosis code → Validate. System checks extracted rules first,
then falls back to RAG. Returns: Approved / Denied / Needs Review + reason.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736592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736592"/>
            <a:ext cx="822960" cy="1664208"/>
          </a:xfrm>
          <a:prstGeom prst="rect">
            <a:avLst/>
          </a:prstGeom>
          <a:solidFill>
            <a:srgbClr val="0C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5239512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5
Policy 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" y="4828031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Select two policy versions → Compare.
AI surfaces every change with old value, new value, and risk level.
Analysts see what changed in seconds instead of reading both documents.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79" y="4736592"/>
            <a:ext cx="4251960" cy="1664208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79" y="4736592"/>
            <a:ext cx="822960" cy="1664208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1" y="5239512"/>
            <a:ext cx="6949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Step 6
Audit Trail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87567" y="4828031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7FC8"/>
                </a:solidFill>
                <a:latin typeface="Calibri"/>
              </a:rPr>
              <a:t>Every AI answer is permanently logged with: retrieved pages, reasoning steps,
evidence quotes, and confidence score — a complete chain of custody
for every coverage decision made by the system.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07FC8"/>
                </a:solidFill>
                <a:latin typeface="Calibri"/>
              </a:rPr>
              <a:t>C O T I V I T 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8046720" cy="2743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933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7FC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78608"/>
            <a:ext cx="8046720" cy="27432"/>
          </a:xfrm>
          <a:prstGeom prst="rect">
            <a:avLst/>
          </a:prstGeom>
          <a:solidFill>
            <a:srgbClr val="B07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Topic 3 — Content Management in Health Care: policies, summarization, rule conversion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375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POC proves: PDF → RAG → structured rules → claims validation →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Strategic proposals: Policy Intelligence Layer · Rule-to-Code Automation · AI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✓  Relevant to Cotiviti: payment accuracy, prior-auth, clinical intelligence product 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80"/>
            <a:ext cx="8046720" cy="2743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13892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Developer: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1389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Sohith Kampalli  ·  sohithkampalli@gmail.com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GitHub: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48640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github.com/sohithk2002/intellipolicy-ai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338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Submitted to: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833872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jesus.hurtado@cotiviti.com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813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7FC8"/>
                </a:solidFill>
                <a:latin typeface="Calibri"/>
              </a:rPr>
              <a:t>Institution: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6181344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University of North 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08076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7FC8"/>
                </a:solidFill>
                <a:latin typeface="Calibri"/>
              </a:rPr>
              <a:t>"Turning written policy into intelligent, auditable decisions."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19672"/>
            <a:ext cx="8595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7FC8"/>
                </a:solidFill>
                <a:latin typeface="Calibri"/>
              </a:rPr>
              <a:t>IntelliPolicy AI  ·  Cotiviti Assessment  ·  Sohith Kampalli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