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1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0" y="0"/>
            <a:ext cx="4416552" cy="6858000"/>
          </a:xfrm>
          <a:prstGeom prst="rect">
            <a:avLst/>
          </a:prstGeom>
          <a:solidFill>
            <a:srgbClr val="8B3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0C8F0"/>
                </a:solidFill>
              </a:rPr>
              <a:t>COTIVITI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99DD"/>
                </a:solidFill>
              </a:rPr>
              <a:t>Intern 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2024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IntelliPolicy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926080"/>
            <a:ext cx="7498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0C8F0"/>
                </a:solidFill>
              </a:rPr>
              <a:t>Agentic Healthcare Policy Intelligence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03320"/>
            <a:ext cx="74980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A80CC"/>
                </a:solidFill>
              </a:rPr>
              <a:t>Upload  ·  Query  ·  Compare  ·  Extract  ·  Validate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937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Sohith Kampalli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32180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AAEE"/>
                </a:solidFill>
              </a:rPr>
              <a:t>Topic 3 — Content Management in Health Care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1097280"/>
            <a:ext cx="3200400" cy="658368"/>
          </a:xfrm>
          <a:prstGeom prst="rect">
            <a:avLst/>
          </a:prstGeom>
          <a:solidFill>
            <a:srgbClr val="552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1225295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PDF Ingestion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2103120"/>
            <a:ext cx="3200400" cy="658368"/>
          </a:xfrm>
          <a:prstGeom prst="rect">
            <a:avLst/>
          </a:prstGeom>
          <a:solidFill>
            <a:srgbClr val="552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41080" y="2231136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Vector RAG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3108960"/>
            <a:ext cx="3200400" cy="658368"/>
          </a:xfrm>
          <a:prstGeom prst="rect">
            <a:avLst/>
          </a:prstGeom>
          <a:solidFill>
            <a:srgbClr val="552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41080" y="3236976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5 AI Agents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4114800"/>
            <a:ext cx="3200400" cy="658368"/>
          </a:xfrm>
          <a:prstGeom prst="rect">
            <a:avLst/>
          </a:prstGeom>
          <a:solidFill>
            <a:srgbClr val="552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1080" y="4242816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Multi-LLM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03920" y="5120640"/>
            <a:ext cx="3200400" cy="658368"/>
          </a:xfrm>
          <a:prstGeom prst="rect">
            <a:avLst/>
          </a:prstGeom>
          <a:solidFill>
            <a:srgbClr val="5520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41080" y="5248656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Live Deploy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1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A1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65105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AAEE"/>
                </a:solidFill>
              </a:rPr>
              <a:t>IntelliPolicy AI  ·  Cotiviti Intern Assessment  ·  Sohith Kampalli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4A1A6B"/>
                </a:solidFill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85CC4"/>
                </a:solidFill>
              </a:rPr>
              <a:t>HEALTHCARE CONTENT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</a:rPr>
              <a:t>Healthcare organizations process thousands of policy documents, payer contracts, and billing guidelines — manually, slowly, and error-prone.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331720"/>
            <a:ext cx="54864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0D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2331720"/>
            <a:ext cx="64008" cy="150876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44144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1A6B"/>
                </a:solidFill>
              </a:rPr>
              <a:t>📄  Policy Overload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34639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B8D"/>
                </a:solidFill>
              </a:rPr>
              <a:t>Analysts read 100+ page PDFs to answer one billing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2331720"/>
            <a:ext cx="54864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0D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2331720"/>
            <a:ext cx="64008" cy="150876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44144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1A6B"/>
                </a:solidFill>
              </a:rPr>
              <a:t>⚠️  Version Drift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834639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B8D"/>
                </a:solidFill>
              </a:rPr>
              <a:t>Policy changes buried in lengthy documents go undetected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114800"/>
            <a:ext cx="54864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0D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114800"/>
            <a:ext cx="64008" cy="150876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22452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1A6B"/>
                </a:solidFill>
              </a:rPr>
              <a:t>💰  Claim Denials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B8D"/>
                </a:solidFill>
              </a:rPr>
              <a:t>$262B in annual denials from billing/coding errors in the US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80" y="4114800"/>
            <a:ext cx="54864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E0D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4114800"/>
            <a:ext cx="64008" cy="150876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422452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1A6B"/>
                </a:solidFill>
              </a:rPr>
              <a:t>⏱️  Manual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6177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B8D"/>
                </a:solidFill>
              </a:rPr>
              <a:t>Prior auth decisions take days when rules aren't codified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1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A1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65105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AAEE"/>
                </a:solidFill>
              </a:rPr>
              <a:t>IntelliPolicy AI  ·  Cotiviti Intern Assessment  ·  Sohith Kampalli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4A1A6B"/>
                </a:solidFill>
              </a:rPr>
              <a:t>IntelliPolicy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B8D"/>
                </a:solidFill>
              </a:rPr>
              <a:t>A five-agent platform that turns static PDF policy documents into an intelligent, queryable knowledge system — live in production.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874519"/>
            <a:ext cx="205740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E0D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874519"/>
            <a:ext cx="2057400" cy="50292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9476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CAAEE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2532887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1A6B"/>
                </a:solidFill>
              </a:rPr>
              <a:t>Upload &amp; Ingest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3154679"/>
            <a:ext cx="1828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PDF → chunks → 384-dim embeddings
PyMuPDF + BAAI/bge-small-en-v1.5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24328" y="1874519"/>
            <a:ext cx="205740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E0D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24328" y="1874519"/>
            <a:ext cx="2057400" cy="50292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5768" y="19476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CAAEE"/>
                </a:solidFill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5768" y="2532887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1A6B"/>
                </a:solidFill>
              </a:rPr>
              <a:t>Policy Q&amp;A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5768" y="3154679"/>
            <a:ext cx="1828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RAG pipeline: retrieve → rerank → LLM
Page-level citations, session memory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28616" y="1874519"/>
            <a:ext cx="205740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E0D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28616" y="1874519"/>
            <a:ext cx="2057400" cy="50292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0055" y="19476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CAAEE"/>
                </a:solidFill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0055" y="2532887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1A6B"/>
                </a:solidFill>
              </a:rPr>
              <a:t>Policy Compare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0055" y="3154679"/>
            <a:ext cx="1828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Side-by-side version diff
Risk scoring: High / Med / Low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32904" y="1874519"/>
            <a:ext cx="205740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E0D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32904" y="1874519"/>
            <a:ext cx="2057400" cy="50292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4344" y="19476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CAAEE"/>
                </a:solidFill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4344" y="2532887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1A6B"/>
                </a:solidFill>
              </a:rPr>
              <a:t>Rule Extraction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4344" y="3154679"/>
            <a:ext cx="1828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Written policy → structured JSON rules
Detects auth, restrictions, billing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37192" y="1874519"/>
            <a:ext cx="205740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E0D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537192" y="1874519"/>
            <a:ext cx="2057400" cy="50292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28632" y="194767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CAAEE"/>
                </a:solidFill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28632" y="2532887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1A6B"/>
                </a:solidFill>
              </a:rPr>
              <a:t>Claims Validation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28632" y="3154679"/>
            <a:ext cx="1828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CPT + diagnosis code against rules
Deterministic match + vector fallback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1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A1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65105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AAEE"/>
                </a:solidFill>
              </a:rPr>
              <a:t>IntelliPolicy AI  ·  Cotiviti Intern Assessment  ·  Sohith Kampalli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4A1A6B"/>
                </a:solidFill>
              </a:rPr>
              <a:t>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85CC4"/>
                </a:solidFill>
              </a:rPr>
              <a:t>FULL-STACK · MULTI-AGENT · CLOUD-DEPLOYED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365760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0D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463040"/>
            <a:ext cx="3657600" cy="41148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0876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2D8B"/>
                </a:solidFill>
              </a:rPr>
              <a:t>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20116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Next.js 14 · TypeScript · Tailwind v4
Vercel (Production)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88036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2D8B"/>
                </a:solidFill>
              </a:rPr>
              <a:t>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28803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FastAPI · Python 3.12
Railway (Docker / Nixpacks)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49039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2D8B"/>
                </a:solidFill>
              </a:rPr>
              <a:t>AI / 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749039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BAAI/bge-small-en-v1.5 embeddings
Anthropic Claude / OpenAI / Gemini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177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2D8B"/>
                </a:solidFill>
              </a:rPr>
              <a:t>Storage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461772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In-memory vector store (custom)
PostgreSQL (optional, SQLAlchemy)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48640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2D8B"/>
                </a:solidFill>
              </a:rPr>
              <a:t>Auth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54864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Configurable API key — Anthropic,
OpenAI, or Google Gemini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1463040"/>
            <a:ext cx="7223760" cy="4846320"/>
          </a:xfrm>
          <a:prstGeom prst="rect">
            <a:avLst/>
          </a:prstGeom>
          <a:solidFill>
            <a:srgbClr val="FFFFFF"/>
          </a:solidFill>
          <a:ln w="9525">
            <a:solidFill>
              <a:srgbClr val="E0D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0" y="1463040"/>
            <a:ext cx="7223760" cy="41148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1508760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Agentic Pipeline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2011680"/>
            <a:ext cx="54864" cy="59436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18888" y="201168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1A6B"/>
                </a:solidFill>
              </a:rPr>
              <a:t>Intake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18888" y="2340864"/>
            <a:ext cx="6812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B8D"/>
                </a:solidFill>
              </a:rPr>
              <a:t>PDF → PyMuPDF extract → recursive chunker → embed → store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2862072"/>
            <a:ext cx="54864" cy="594360"/>
          </a:xfrm>
          <a:prstGeom prst="rect">
            <a:avLst/>
          </a:prstGeom>
          <a:solidFill>
            <a:srgbClr val="A85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18888" y="286207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1A6B"/>
                </a:solidFill>
              </a:rPr>
              <a:t>Retrieval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18888" y="3191256"/>
            <a:ext cx="6812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B8D"/>
                </a:solidFill>
              </a:rPr>
              <a:t>Query embed → cosine search → guardrail filter → top-K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63440" y="3712464"/>
            <a:ext cx="54864" cy="594360"/>
          </a:xfrm>
          <a:prstGeom prst="rect">
            <a:avLst/>
          </a:prstGeom>
          <a:solidFill>
            <a:srgbClr val="00B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18888" y="371246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1A6B"/>
                </a:solidFill>
              </a:rPr>
              <a:t>Policy QA Agent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18888" y="4041648"/>
            <a:ext cx="6812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B8D"/>
                </a:solidFill>
              </a:rPr>
              <a:t>Rerank (70% semantic + 30% keyword) → ToC filter → LLM → citations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4562856"/>
            <a:ext cx="54864" cy="594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18888" y="456285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1A6B"/>
                </a:solidFill>
              </a:rPr>
              <a:t>Comparison Agent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18888" y="4892040"/>
            <a:ext cx="6812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B8D"/>
                </a:solidFill>
              </a:rPr>
              <a:t>Chunk old vs new → LLM diff → risk classification (H/M/L)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63440" y="5413248"/>
            <a:ext cx="54864" cy="59436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18888" y="541324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1A6B"/>
                </a:solidFill>
              </a:rPr>
              <a:t>Rule Agent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5742432"/>
            <a:ext cx="6812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B8D"/>
                </a:solidFill>
              </a:rPr>
              <a:t>Policy text → structured rules → deterministic claim match + fallback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1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A1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65105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AAEE"/>
                </a:solidFill>
              </a:rPr>
              <a:t>IntelliPolicy AI  ·  Cotiviti Intern Assessment  ·  Sohith Kampalli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4A1A6B"/>
                </a:solidFill>
              </a:rPr>
              <a:t>RAG Pipeline — Policy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85CC4"/>
                </a:solidFill>
              </a:rPr>
              <a:t>RETRIEVE · RERANK · GROUND · GENERATE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2267712" y="2514600"/>
            <a:ext cx="137160" cy="182880"/>
          </a:xfrm>
          <a:prstGeom prst="rect">
            <a:avLst/>
          </a:prstGeom>
          <a:solidFill>
            <a:srgbClr val="CCB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1783080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E0D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691640"/>
            <a:ext cx="1783080" cy="50292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746504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50008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1A6B"/>
                </a:solidFill>
              </a:rPr>
              <a:t>Query
Embedding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81528"/>
            <a:ext cx="1554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User question
→ BAAI 384-dim
vector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15383" y="2514600"/>
            <a:ext cx="137160" cy="182880"/>
          </a:xfrm>
          <a:prstGeom prst="rect">
            <a:avLst/>
          </a:prstGeom>
          <a:solidFill>
            <a:srgbClr val="CCB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04872" y="1691640"/>
            <a:ext cx="1783080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E0D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04872" y="1691640"/>
            <a:ext cx="1783080" cy="502920"/>
          </a:xfrm>
          <a:prstGeom prst="rect">
            <a:avLst/>
          </a:prstGeom>
          <a:solidFill>
            <a:srgbClr val="A85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78024" y="1746504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96312" y="2350008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1A6B"/>
                </a:solidFill>
              </a:rPr>
              <a:t>Vector
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96312" y="3081528"/>
            <a:ext cx="1554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Cosine similarity
against chunked
policy store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3056" y="2514600"/>
            <a:ext cx="137160" cy="182880"/>
          </a:xfrm>
          <a:prstGeom prst="rect">
            <a:avLst/>
          </a:prstGeom>
          <a:solidFill>
            <a:srgbClr val="CCB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52544" y="1691640"/>
            <a:ext cx="1783080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E0D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52544" y="1691640"/>
            <a:ext cx="1783080" cy="502920"/>
          </a:xfrm>
          <a:prstGeom prst="rect">
            <a:avLst/>
          </a:prstGeom>
          <a:solidFill>
            <a:srgbClr val="00B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25696" y="1746504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3" y="2350008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1A6B"/>
                </a:solidFill>
              </a:rPr>
              <a:t>Guardrail
Filter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3983" y="3081528"/>
            <a:ext cx="1554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Reject admin chunks
(GME, unrelated)
via keyword deny-list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10727" y="2514600"/>
            <a:ext cx="137160" cy="182880"/>
          </a:xfrm>
          <a:prstGeom prst="rect">
            <a:avLst/>
          </a:prstGeom>
          <a:solidFill>
            <a:srgbClr val="CCB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0216" y="1691640"/>
            <a:ext cx="1783080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E0D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0216" y="1691640"/>
            <a:ext cx="1783080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3368" y="1746504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1655" y="2350008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1A6B"/>
                </a:solidFill>
              </a:rPr>
              <a:t>Reranking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5" y="3081528"/>
            <a:ext cx="1554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0.70 × semantic
+ 0.30 × keyword
overlap score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0" y="2514600"/>
            <a:ext cx="137160" cy="182880"/>
          </a:xfrm>
          <a:prstGeom prst="rect">
            <a:avLst/>
          </a:prstGeom>
          <a:solidFill>
            <a:srgbClr val="CCB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47888" y="1691640"/>
            <a:ext cx="1783080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E0D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47888" y="1691640"/>
            <a:ext cx="1783080" cy="50292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1040" y="1746504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9327" y="2350008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1A6B"/>
                </a:solidFill>
              </a:rPr>
              <a:t>LLM
Generation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7" y="3081528"/>
            <a:ext cx="1554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Top-7 chunks →
Claude / GPT
grounded answer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195559" y="1691640"/>
            <a:ext cx="1783080" cy="4526280"/>
          </a:xfrm>
          <a:prstGeom prst="rect">
            <a:avLst/>
          </a:prstGeom>
          <a:solidFill>
            <a:srgbClr val="FFFFFF"/>
          </a:solidFill>
          <a:ln w="9525">
            <a:solidFill>
              <a:srgbClr val="E0D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195559" y="1691640"/>
            <a:ext cx="1783080" cy="502920"/>
          </a:xfrm>
          <a:prstGeom prst="rect">
            <a:avLst/>
          </a:prstGeom>
          <a:solidFill>
            <a:srgbClr val="00B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8711" y="1746504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6999" y="2350008"/>
            <a:ext cx="1554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1A6B"/>
                </a:solidFill>
              </a:rPr>
              <a:t>Citation
&amp; Audit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6999" y="3081528"/>
            <a:ext cx="1554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Page refs attached
Session memory
Audit record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solidFill>
            <a:srgbClr val="F0E8F8"/>
          </a:solidFill>
          <a:ln w="9525">
            <a:solidFill>
              <a:srgbClr val="A85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60807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1A6B"/>
                </a:solidFill>
              </a:rPr>
              <a:t>Hallucination guard: LLM answers are rejected if confidence &lt; 20% or response contains a "not found" phrase — ensuring answers are always grounded in uploaded documents.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1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A1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65105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AAEE"/>
                </a:solidFill>
              </a:rPr>
              <a:t>IntelliPolicy AI  ·  Cotiviti Intern Assessment  ·  Sohith Kampalli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4A1A6B"/>
                </a:solidFill>
              </a:rPr>
              <a:t>Claims Validation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85CC4"/>
                </a:solidFill>
              </a:rPr>
              <a:t>DETERMINISTIC RULE MATCH + VECTOR FALLBACK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329184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6B2D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1A6B"/>
                </a:solidFill>
              </a:rPr>
              <a:t>Claim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01952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CPT · Diagnosis · Plan Type
Procedure · Service 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187451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6B2D8B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1463040"/>
            <a:ext cx="3291840" cy="1188720"/>
          </a:xfrm>
          <a:prstGeom prst="rect">
            <a:avLst/>
          </a:prstGeom>
          <a:solidFill>
            <a:srgbClr val="F0E8F8"/>
          </a:solidFill>
          <a:ln w="9525">
            <a:solidFill>
              <a:srgbClr val="A85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554480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1A6B"/>
                </a:solidFill>
              </a:rPr>
              <a:t>Structured Rule Match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901952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Deterministic lookup — no LLM
Zero hallucination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8346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A0"/>
                </a:solidFill>
              </a:rPr>
              <a:t>✓ Match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83464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→ Approved / Denied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31012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✗ No 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31012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→ Vector fallback with reranking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886200"/>
            <a:ext cx="726948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0D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3886200"/>
            <a:ext cx="64008" cy="13258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395935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1A6B"/>
                </a:solidFill>
              </a:rPr>
              <a:t>Vector Fallback Pipeline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315968"/>
            <a:ext cx="6903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Build focused query (CPT + procedure keywords + plan type)  →  Cosine search (top-8)  →  Guardrail filter  →  Rerank score  →  Threshold check  →  Evidence snippet + next steps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532120"/>
            <a:ext cx="3474720" cy="804672"/>
          </a:xfrm>
          <a:prstGeom prst="rect">
            <a:avLst/>
          </a:prstGeom>
          <a:solidFill>
            <a:srgbClr val="FFFFFF"/>
          </a:solidFill>
          <a:ln w="15240">
            <a:solidFill>
              <a:srgbClr val="00B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5532120"/>
            <a:ext cx="64008" cy="804672"/>
          </a:xfrm>
          <a:prstGeom prst="rect">
            <a:avLst/>
          </a:prstGeom>
          <a:solidFill>
            <a:srgbClr val="00B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5596128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1A6B"/>
                </a:solidFill>
              </a:rPr>
              <a:t>Approved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5971031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B8D"/>
                </a:solidFill>
              </a:rPr>
              <a:t>Rule matched, criteria met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40" y="5532120"/>
            <a:ext cx="3474720" cy="804672"/>
          </a:xfrm>
          <a:prstGeom prst="rect">
            <a:avLst/>
          </a:prstGeom>
          <a:solidFill>
            <a:srgbClr val="FFFFFF"/>
          </a:solidFill>
          <a:ln w="1524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06240" y="5532120"/>
            <a:ext cx="64008" cy="804672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70832" y="5596128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1A6B"/>
                </a:solidFill>
              </a:rPr>
              <a:t>Denied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70832" y="5971031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B8D"/>
                </a:solidFill>
              </a:rPr>
              <a:t>Provider restriction / prohibition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5532120"/>
            <a:ext cx="3474720" cy="804672"/>
          </a:xfrm>
          <a:prstGeom prst="rect">
            <a:avLst/>
          </a:prstGeom>
          <a:solidFill>
            <a:srgbClr val="FFFFFF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0" y="5532120"/>
            <a:ext cx="64008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12" y="5596128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1A6B"/>
                </a:solidFill>
              </a:rPr>
              <a:t>Needs 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2" y="5971031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B8D"/>
                </a:solidFill>
              </a:rPr>
              <a:t>No rule + vector evidence found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1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A1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65105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AAEE"/>
                </a:solidFill>
              </a:rPr>
              <a:t>IntelliPolicy AI  ·  Cotiviti Intern Assessment  ·  Sohith Kampalli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4A1A6B"/>
                </a:solidFill>
              </a:rPr>
              <a:t>Strategic Value for Cotiviti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85CC4"/>
                </a:solidFill>
              </a:rPr>
              <a:t>OPPORTUNITIES · INVESTMENTS · POSITIONS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553212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E0D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463040"/>
            <a:ext cx="64008" cy="214884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002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1A6B"/>
                </a:solidFill>
              </a:rPr>
              <a:t>Policy Intelligence at 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5740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Cotiviti reviews billions of claims annually. An agentic RAG system could instantly surface the specific policy clause behind any denial — reducing manual analyst time by hours per case.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463040"/>
            <a:ext cx="553212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E0D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463040"/>
            <a:ext cx="64008" cy="2148840"/>
          </a:xfrm>
          <a:prstGeom prst="rect">
            <a:avLst/>
          </a:prstGeom>
          <a:solidFill>
            <a:srgbClr val="00B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6002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1A6B"/>
                </a:solidFill>
              </a:rPr>
              <a:t>Automated Rule 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05740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Converting payer policy PDFs into structured machine-readable rules eliminates manual translation bottlenecks and enables real-time clinical decision support across TPO workflows.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840480"/>
            <a:ext cx="553212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E0D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840480"/>
            <a:ext cx="64008" cy="2148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9776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1A6B"/>
                </a:solidFill>
              </a:rPr>
              <a:t>Policy Change Monitoring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43484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Payers update coverage policies quarterly. Automated version comparison with risk scoring flags high-impact changes (new prior auth mandates, billing documentation changes) before they cause claim denials.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840480"/>
            <a:ext cx="553212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E0D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3840480"/>
            <a:ext cx="64008" cy="2148840"/>
          </a:xfrm>
          <a:prstGeom prst="rect">
            <a:avLst/>
          </a:prstGeom>
          <a:solidFill>
            <a:srgbClr val="A85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9776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1A6B"/>
                </a:solidFill>
              </a:rPr>
              <a:t>Multi-LLM Provider Flexibility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43484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Abstracting over Anthropic, OpenAI, and Gemini allows Cotiviti to select providers by cost, compliance posture, or clinical specialization without re-engineering the underlying platform.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1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A1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65105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AAEE"/>
                </a:solidFill>
              </a:rPr>
              <a:t>IntelliPolicy AI  ·  Cotiviti Intern Assessment  ·  Sohith Kampalli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4A1A6B"/>
                </a:solidFill>
              </a:rPr>
              <a:t>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85CC4"/>
                </a:solidFill>
              </a:rPr>
              <a:t>PRODUCTION-DEPLOYED · VERCEL + RAILWAY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B8D"/>
                </a:solidFill>
              </a:rPr>
              <a:t>The full application is deployed in production. The walkthrough covers all five modules.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64208"/>
            <a:ext cx="502920" cy="749808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81051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71907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1A6B"/>
                </a:solidFill>
              </a:rPr>
              <a:t>Upload a PDF Policy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06654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Drag-and-drop a sample policy (e.g. prior_authorization_policy_2026.pdf). Watch chunking + embedding complete in ~3 seconds.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624328"/>
            <a:ext cx="502920" cy="749808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27706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67919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1A6B"/>
                </a:solidFill>
              </a:rPr>
              <a:t>Ask a Policy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02666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"What procedures require prior authorization?" — see the RAG pipeline trace: retrieval → rerank → grounded answer with page citations.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584448"/>
            <a:ext cx="502920" cy="749808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37307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63931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1A6B"/>
                </a:solidFill>
              </a:rPr>
              <a:t>Compare Two Versions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9867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Select old vs new policy. Review structured diff with High / Medium / Low risk classification per changed section.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544568"/>
            <a:ext cx="502920" cy="749808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46908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59943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1A6B"/>
                </a:solidFill>
              </a:rPr>
              <a:t>Extract Rules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94690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Run rule extraction on the policy. Watch written language convert to structured JSON: actor, restriction, documentation required.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504688"/>
            <a:ext cx="502920" cy="749808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56509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55955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1A6B"/>
                </a:solidFill>
              </a:rPr>
              <a:t>Validate a Claim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90702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Enter CPT code + diagnosis code. See deterministic rule match or vector fallback with confidence score and next steps.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A1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A1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65105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AAEE"/>
                </a:solidFill>
              </a:rPr>
              <a:t>IntelliPolicy AI  ·  Cotiviti Intern Assessment  ·  Sohith Kampalli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4A1A6B"/>
                </a:solidFill>
              </a:rPr>
              <a:t>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85CC4"/>
                </a:solidFill>
              </a:rPr>
              <a:t>RECOMMENDED STRATEGIC INVESTMENTS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64008" cy="804672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9768" y="1463040"/>
            <a:ext cx="1124712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0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5361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1A6B"/>
                </a:solidFill>
              </a:rPr>
              <a:t>Persistent Vector Database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1554480"/>
            <a:ext cx="7360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Replace in-memory store with Pinecone or pgvector for multi-tenant scalability across thousands of payer policy documents.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423160"/>
            <a:ext cx="64008" cy="804672"/>
          </a:xfrm>
          <a:prstGeom prst="rect">
            <a:avLst/>
          </a:prstGeom>
          <a:solidFill>
            <a:srgbClr val="00B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" y="2423160"/>
            <a:ext cx="1124712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0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9631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1A6B"/>
                </a:solidFill>
              </a:rPr>
              <a:t>Real-Time Policy Monitoring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514600"/>
            <a:ext cx="7360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Connect to CMS, BCBS, and payer portals via web scraping or APIs. Auto-trigger comparison + risk report on any policy update.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383280"/>
            <a:ext cx="64008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" y="3383280"/>
            <a:ext cx="1124712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0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5643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1A6B"/>
                </a:solidFill>
              </a:rPr>
              <a:t>Fine-Tuned Clinical LLM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3474720"/>
            <a:ext cx="7360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Fine-tune a domain model on Cotiviti's proprietary audit data to achieve higher accuracy on TPO-specific terminology and edge cases.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343400"/>
            <a:ext cx="64008" cy="804672"/>
          </a:xfrm>
          <a:prstGeom prst="rect">
            <a:avLst/>
          </a:prstGeom>
          <a:solidFill>
            <a:srgbClr val="A85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9768" y="4343400"/>
            <a:ext cx="1124712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0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41655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1A6B"/>
                </a:solidFill>
              </a:rPr>
              <a:t>Conversational Audit Trail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60520" y="4434840"/>
            <a:ext cx="7360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Full multi-turn session persistence with HIPAA-compliant logging for compliance review, analyst productivity analytics, and QA.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303520"/>
            <a:ext cx="64008" cy="804672"/>
          </a:xfrm>
          <a:prstGeom prst="rect">
            <a:avLst/>
          </a:prstGeom>
          <a:solidFill>
            <a:srgbClr val="00B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" y="5303520"/>
            <a:ext cx="1124712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E8E0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537667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1A6B"/>
                </a:solidFill>
              </a:rPr>
              <a:t>Provider Portal Integration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5394960"/>
            <a:ext cx="7360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Embed claim validation directly into provider-facing portals for real-time pre-submission checks — reducing denial rates upstream.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1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0" y="0"/>
            <a:ext cx="4416552" cy="6858000"/>
          </a:xfrm>
          <a:prstGeom prst="rect">
            <a:avLst/>
          </a:prstGeom>
          <a:solidFill>
            <a:srgbClr val="8B3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0C8F0"/>
                </a:solidFill>
              </a:rPr>
              <a:t>COTIVITI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3736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E0C8F0"/>
                </a:solidFill>
              </a:rPr>
              <a:t>Questions &amp; Live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84048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Sohith Kampalli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7939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AAEE"/>
                </a:solidFill>
              </a:rPr>
              <a:t>sohithkampalli@gmail.com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0292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A80CC"/>
                </a:solidFill>
              </a:rPr>
              <a:t>5 Agents  ·  RAG Pipeline  ·  Claims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4406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A80CC"/>
                </a:solidFill>
              </a:rPr>
              <a:t>Policy Compare  ·  Rule Extraction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8521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AA80CC"/>
                </a:solidFill>
              </a:rPr>
              <a:t>Next.js + FastAPI  ·  Vercel + Railway  ·  Production Live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