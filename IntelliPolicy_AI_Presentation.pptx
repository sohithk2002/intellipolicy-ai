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82880"/>
            <a:ext cx="8686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4748B"/>
                </a:solidFill>
                <a:latin typeface="Plus Jakarta Sans"/>
              </a:rPr>
              <a:t>C O T I V I T I  ·  I N T E R N  A S S E S S M E N T</a:t>
            </a:r>
          </a:p>
        </p:txBody>
      </p:sp>
      <p:sp>
        <p:nvSpPr>
          <p:cNvPr id="4" name="Rectangle 3"/>
          <p:cNvSpPr/>
          <p:nvPr/>
        </p:nvSpPr>
        <p:spPr>
          <a:xfrm>
            <a:off x="292608" y="658368"/>
            <a:ext cx="4206240" cy="329184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92608" y="658368"/>
            <a:ext cx="36576" cy="32918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704088"/>
            <a:ext cx="397763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34D399"/>
                </a:solidFill>
                <a:latin typeface="Plus Jakarta Sans"/>
              </a:rPr>
              <a:t>Topic 3  ·  Content Management in Health Care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" y="1115568"/>
            <a:ext cx="8595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Plus Jakarta Sans"/>
              </a:rPr>
              <a:t>IntelliPolicy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210312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4A3B8"/>
                </a:solidFill>
                <a:latin typeface="Plus Jakarta Sans"/>
              </a:rPr>
              <a:t>Intelligent Policy Content Management for Healthcare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292608" y="2743200"/>
            <a:ext cx="8412480" cy="18288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2907792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Plus Jakarta Sans"/>
              </a:rPr>
              <a:t>Submitted by: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2907792"/>
            <a:ext cx="6583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Plus Jakarta Sans"/>
              </a:rPr>
              <a:t>Sohith Kampalli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" y="3374136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Plus Jakarta Sans"/>
              </a:rPr>
              <a:t>Assessment: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3374136"/>
            <a:ext cx="6583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Plus Jakarta Sans"/>
              </a:rPr>
              <a:t>Cotiviti Software Engineer Intern — University of North Texas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" y="384048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Plus Jakarta Sans"/>
              </a:rPr>
              <a:t>Topic: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40280" y="3840480"/>
            <a:ext cx="6583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Plus Jakarta Sans"/>
              </a:rPr>
              <a:t>Billing &amp; Coding Policies · Summarization · Rule Conversion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4306824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Plus Jakarta Sans"/>
              </a:rPr>
              <a:t>Stack: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40280" y="4306824"/>
            <a:ext cx="6583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Plus Jakarta Sans"/>
              </a:rPr>
              <a:t>Next.js 14  ·  FastAPI  ·  BAAI/bge-small  ·  RAG Pipeline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" y="4773168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Plus Jakarta Sans"/>
              </a:rPr>
              <a:t>Date: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40280" y="4773168"/>
            <a:ext cx="6583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Plus Jakarta Sans"/>
              </a:rPr>
              <a:t>June 30,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2608" y="5989320"/>
            <a:ext cx="2286000" cy="347472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92608" y="5989320"/>
            <a:ext cx="36576" cy="347472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035040"/>
            <a:ext cx="2148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4D399"/>
                </a:solidFill>
                <a:latin typeface="Plus Jakarta Sans"/>
              </a:rPr>
              <a:t>● LIVE POC  ·  github.com/sohithk2002/intellipolicy-ai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19672"/>
            <a:ext cx="9144000" cy="338328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4320" y="6556248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4748B"/>
                </a:solidFill>
                <a:latin typeface="Plus Jakarta Sans"/>
              </a:rPr>
              <a:t>IntelliPolicy AI  ·  Cotiviti Assessment  ·  Sohith Kampalli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4748B"/>
                </a:solidFill>
                <a:latin typeface="Plus Jakarta Sans"/>
              </a:rPr>
              <a:t>Research Report  ·  Section 1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402336"/>
            <a:ext cx="256032" cy="27432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11827"/>
                </a:solidFill>
                <a:latin typeface="Plus Jakarta Sans"/>
              </a:rPr>
              <a:t>What Is Content Management in Health Care?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097280"/>
            <a:ext cx="8412480" cy="1280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097280"/>
            <a:ext cx="45720" cy="1280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097280"/>
            <a:ext cx="8412480" cy="1828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2359152"/>
            <a:ext cx="8412480" cy="1828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152144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64748B"/>
                </a:solidFill>
                <a:latin typeface="Plus Jakarta Sans"/>
              </a:rPr>
              <a:t>Definition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417320"/>
            <a:ext cx="8092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74151"/>
                </a:solidFill>
                <a:latin typeface="Plus Jakarta Sans"/>
              </a:rPr>
              <a:t>Content Management in Health Care is the systematic ingestion, organisation, interpretation, and transformation of clinical and administrative documents — including billing and coding policies, clinical practice guidelines, and payer-provider contracts — into structured, machine-readable formats enabling automated decision-making, audit, and compliance.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487168"/>
            <a:ext cx="2651760" cy="301752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2487168"/>
            <a:ext cx="2651760" cy="18288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258775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Plus Jakarta Sans"/>
              </a:rPr>
              <a:t>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306324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Plus Jakarta Sans"/>
              </a:rPr>
              <a:t>Billing &amp; Coding Policies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3547872"/>
            <a:ext cx="2331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Plus Jakarta Sans"/>
              </a:rPr>
              <a:t>CMS manuals · CPT/ICD-10 crosswalks
Prior-auth rules · Frequency limits
Updated quarterly by 50+ payers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0" y="2487168"/>
            <a:ext cx="2651760" cy="301752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200400" y="2487168"/>
            <a:ext cx="2651760" cy="18288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64992" y="258775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Plus Jakarta Sans"/>
              </a:rPr>
              <a:t>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64992" y="306324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Plus Jakarta Sans"/>
              </a:rPr>
              <a:t>Clinical Practice Guidelines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64992" y="3547872"/>
            <a:ext cx="2331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Plus Jakarta Sans"/>
              </a:rPr>
              <a:t>Evidence-based care pathways
Medical necessity criteria
Vary by plan type and state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35040" y="2487168"/>
            <a:ext cx="2651760" cy="301752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035040" y="2487168"/>
            <a:ext cx="2651760" cy="18288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99632" y="258775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Plus Jakarta Sans"/>
              </a:rPr>
              <a:t>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99632" y="306324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Plus Jakarta Sans"/>
              </a:rPr>
              <a:t>Payer-Provider Contracts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99632" y="3547872"/>
            <a:ext cx="2331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Plus Jakarta Sans"/>
              </a:rPr>
              <a:t>Fee schedules · Bundled payments
Carve-outs · Network terms
Renegotiated annually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44952" y="3904487"/>
            <a:ext cx="320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64748B"/>
                </a:solidFill>
                <a:latin typeface="Plus Jakarta Sans"/>
              </a:rPr>
              <a:t>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79592" y="3904487"/>
            <a:ext cx="320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64748B"/>
                </a:solidFill>
                <a:latin typeface="Plus Jakarta Sans"/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19672"/>
            <a:ext cx="9144000" cy="33832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4320" y="6556248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4748B"/>
                </a:solidFill>
                <a:latin typeface="Plus Jakarta Sans"/>
              </a:rPr>
              <a:t>IntelliPolicy AI  ·  Cotiviti Assessment  ·  Sohith Kampalli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87552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2801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4748B"/>
                </a:solidFill>
                <a:latin typeface="Plus Jakarta Sans"/>
              </a:rPr>
              <a:t>Research Report  ·  Sections 2 &amp; 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02336"/>
            <a:ext cx="256032" cy="27432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Plus Jakarta Sans"/>
              </a:rPr>
              <a:t>Trends  ·  Opportunities  ·  Threats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78992"/>
            <a:ext cx="36576" cy="530352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078992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64748B"/>
                </a:solidFill>
                <a:latin typeface="Plus Jakarta Sans"/>
              </a:rPr>
              <a:t>KEY TRENDS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17320"/>
            <a:ext cx="3429000" cy="1078992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417320"/>
            <a:ext cx="36576" cy="107899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1508760"/>
            <a:ext cx="3154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Plus Jakarta Sans"/>
              </a:rPr>
              <a:t>LLMs for Policy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1801368"/>
            <a:ext cx="3154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Plus Jakarta Sans"/>
              </a:rPr>
              <a:t>GPT-4, Gemini, Claude read 200-page PDFs
in seconds and answer coverage questions
with page-level citations.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606040"/>
            <a:ext cx="3429000" cy="1078992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606040"/>
            <a:ext cx="36576" cy="107899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2697480"/>
            <a:ext cx="3154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Plus Jakarta Sans"/>
              </a:rPr>
              <a:t>RAG Pipelines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" y="2990088"/>
            <a:ext cx="3154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Plus Jakarta Sans"/>
              </a:rPr>
              <a:t>Retrieval-Augmented Generation grounds AI
answers in specific document evidence —
critical for regulatory accuracy.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794760"/>
            <a:ext cx="3429000" cy="1078992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794760"/>
            <a:ext cx="36576" cy="107899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886200"/>
            <a:ext cx="3154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Plus Jakarta Sans"/>
              </a:rPr>
              <a:t>Rule Extraction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" y="4178808"/>
            <a:ext cx="3154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Plus Jakarta Sans"/>
              </a:rPr>
              <a:t>NLP converts written policy into machine-
readable IF/THEN logic for automated
claims adjudication.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983480"/>
            <a:ext cx="3429000" cy="1078992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4983480"/>
            <a:ext cx="36576" cy="107899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" y="5074920"/>
            <a:ext cx="3154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Plus Jakarta Sans"/>
              </a:rPr>
              <a:t>Automated Diff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5367528"/>
            <a:ext cx="3154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Plus Jakarta Sans"/>
              </a:rPr>
              <a:t>AI detects changes between policy versions
instantly — replacing manual review
cycles that take weeks.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60520" y="1078992"/>
            <a:ext cx="36576" cy="25146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25112" y="10789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34D399"/>
                </a:solidFill>
                <a:latin typeface="Plus Jakarta Sans"/>
              </a:rPr>
              <a:t>OPPORTUNITIES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25112" y="1417320"/>
            <a:ext cx="4572000" cy="4572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25112" y="1417320"/>
            <a:ext cx="36576" cy="4572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62272" y="1499616"/>
            <a:ext cx="4343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4D399"/>
                </a:solidFill>
                <a:latin typeface="Plus Jakarta Sans"/>
              </a:rPr>
              <a:t>✓  Automate prior-auth review — 60–80% less analyst handle time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25112" y="1965960"/>
            <a:ext cx="4572000" cy="4572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25112" y="1965960"/>
            <a:ext cx="36576" cy="4572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62272" y="2048255"/>
            <a:ext cx="4343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4D399"/>
                </a:solidFill>
                <a:latin typeface="Plus Jakarta Sans"/>
              </a:rPr>
              <a:t>✓  Real-time CPT/ICD-10 adjudication against extracted policy rules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25112" y="2514600"/>
            <a:ext cx="4572000" cy="4572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325112" y="2514600"/>
            <a:ext cx="36576" cy="4572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62272" y="2596896"/>
            <a:ext cx="4343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4D399"/>
                </a:solidFill>
                <a:latin typeface="Plus Jakarta Sans"/>
              </a:rPr>
              <a:t>✓  Instant policy version diff — surface coverage changes on publication day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25112" y="3063239"/>
            <a:ext cx="4572000" cy="4572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25112" y="3063239"/>
            <a:ext cx="36576" cy="4572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62272" y="3145535"/>
            <a:ext cx="4343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4D399"/>
                </a:solidFill>
                <a:latin typeface="Plus Jakarta Sans"/>
              </a:rPr>
              <a:t>✓  Full audit trail per AI decision — defensible compliance documentation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60520" y="3639312"/>
            <a:ext cx="36576" cy="27432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25112" y="36393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87171"/>
                </a:solidFill>
                <a:latin typeface="Plus Jakarta Sans"/>
              </a:rPr>
              <a:t>THREATS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25112" y="3959352"/>
            <a:ext cx="4572000" cy="4572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325112" y="3959352"/>
            <a:ext cx="36576" cy="4572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462272" y="4041648"/>
            <a:ext cx="4343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87171"/>
                </a:solidFill>
                <a:latin typeface="Plus Jakarta Sans"/>
              </a:rPr>
              <a:t>⚠  LLM hallucination in clinical context — wrong decisions risk patient harm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25112" y="4507992"/>
            <a:ext cx="4572000" cy="4572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325112" y="4507992"/>
            <a:ext cx="36576" cy="4572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62272" y="4590288"/>
            <a:ext cx="4343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87171"/>
                </a:solidFill>
                <a:latin typeface="Plus Jakarta Sans"/>
              </a:rPr>
              <a:t>⚠  HIPAA compliance — AI systems near PHI must meet security rule requirements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25112" y="5056632"/>
            <a:ext cx="4572000" cy="4572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325112" y="5056632"/>
            <a:ext cx="36576" cy="4572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462272" y="5138928"/>
            <a:ext cx="4343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87171"/>
                </a:solidFill>
                <a:latin typeface="Plus Jakarta Sans"/>
              </a:rPr>
              <a:t>⚠  Model drift — policies update quarterly; embeddings must stay current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325112" y="5605272"/>
            <a:ext cx="4572000" cy="4572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325112" y="5605272"/>
            <a:ext cx="36576" cy="4572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62272" y="5687568"/>
            <a:ext cx="4343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87171"/>
                </a:solidFill>
                <a:latin typeface="Plus Jakarta Sans"/>
              </a:rPr>
              <a:t>⚠  Vendor dependency — third-party LLM APIs create cost and availability risk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519672"/>
            <a:ext cx="9144000" cy="338328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74320" y="6556248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4748B"/>
                </a:solidFill>
                <a:latin typeface="Plus Jakarta Sans"/>
              </a:rPr>
              <a:t>IntelliPolicy AI  ·  Cotiviti Assessment  ·  Sohith Kampalli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4748B"/>
                </a:solidFill>
                <a:latin typeface="Plus Jakarta Sans"/>
              </a:rPr>
              <a:t>Research Report  ·  Section 4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402336"/>
            <a:ext cx="256032" cy="27432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11827"/>
                </a:solidFill>
                <a:latin typeface="Plus Jakarta Sans"/>
              </a:rPr>
              <a:t>Strategic Proposals for Cotiviti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850392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115568"/>
            <a:ext cx="8503920" cy="1828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2743200"/>
            <a:ext cx="8503920" cy="1828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115568"/>
            <a:ext cx="685800" cy="164592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709928"/>
            <a:ext cx="685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34D399"/>
                </a:solidFill>
                <a:latin typeface="Plus Jakarta Sans"/>
              </a:rPr>
              <a:t>01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1115568"/>
            <a:ext cx="781812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1207008"/>
            <a:ext cx="74980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11827"/>
                </a:solidFill>
                <a:latin typeface="Plus Jakarta Sans"/>
              </a:rPr>
              <a:t>Build a Policy Intelligence Layer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1572768"/>
            <a:ext cx="749807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74151"/>
                </a:solidFill>
                <a:latin typeface="Plus Jakarta Sans"/>
              </a:rPr>
              <a:t>Invest in a RAG-based internal platform that ingests all payer policy PDFs on publication and makes them queryable by analysts and adjudication systems in real time — eliminating manual review cycles and reducing prior-auth processing time from days to seconds.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2432304"/>
            <a:ext cx="74980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1">
                <a:solidFill>
                  <a:srgbClr val="34D399"/>
                </a:solidFill>
                <a:latin typeface="Plus Jakarta Sans"/>
              </a:rPr>
              <a:t>→  Impact: 60–80% reduction in analyst policy-review time per claim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889504"/>
            <a:ext cx="850392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0040" y="2889504"/>
            <a:ext cx="8503920" cy="1828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4517136"/>
            <a:ext cx="8503920" cy="1828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20040" y="2889504"/>
            <a:ext cx="685800" cy="164592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" y="3483864"/>
            <a:ext cx="685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BBF24"/>
                </a:solidFill>
                <a:latin typeface="Plus Jakarta Sans"/>
              </a:rPr>
              <a:t>02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5840" y="2889504"/>
            <a:ext cx="7818120" cy="36576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5568" y="2980944"/>
            <a:ext cx="74980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11827"/>
                </a:solidFill>
                <a:latin typeface="Plus Jakarta Sans"/>
              </a:rPr>
              <a:t>Automate Rule-to-Code Conversion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" y="3346704"/>
            <a:ext cx="749807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74151"/>
                </a:solidFill>
                <a:latin typeface="Plus Jakarta Sans"/>
              </a:rPr>
              <a:t>Use LLM rule extraction to automatically convert written billing and coding policies into structured IF/THEN business rules that feed directly into claims adjudication engines — replacing manual rule coding and reducing update lag from weeks to hours.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" y="4206240"/>
            <a:ext cx="74980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1">
                <a:solidFill>
                  <a:srgbClr val="FBBF24"/>
                </a:solidFill>
                <a:latin typeface="Plus Jakarta Sans"/>
              </a:rPr>
              <a:t>→  Impact: Faster policy-to-production cycles; fewer coding errors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4663440"/>
            <a:ext cx="850392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0040" y="4663440"/>
            <a:ext cx="8503920" cy="1828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20040" y="6291072"/>
            <a:ext cx="8503920" cy="1828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20040" y="4663440"/>
            <a:ext cx="685800" cy="164592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" y="5257800"/>
            <a:ext cx="685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87171"/>
                </a:solidFill>
                <a:latin typeface="Plus Jakarta Sans"/>
              </a:rPr>
              <a:t>03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05840" y="4663440"/>
            <a:ext cx="7818120" cy="36576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5568" y="4754879"/>
            <a:ext cx="74980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11827"/>
                </a:solidFill>
                <a:latin typeface="Plus Jakarta Sans"/>
              </a:rPr>
              <a:t>Deploy AI-Powered Audit Trail as a Product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" y="5120640"/>
            <a:ext cx="749807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74151"/>
                </a:solidFill>
                <a:latin typeface="Plus Jakarta Sans"/>
              </a:rPr>
              <a:t>Instrument every AI coverage decision with a structured log capturing retrieved evidence, reasoning steps, and confidence scores. Position as a premium compliance product for health plan clients facing CMS audits and provider appeal volumes.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" y="5980175"/>
            <a:ext cx="74980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1">
                <a:solidFill>
                  <a:srgbClr val="F87171"/>
                </a:solidFill>
                <a:latin typeface="Plus Jakarta Sans"/>
              </a:rPr>
              <a:t>→  Impact: Audit-ready documentation; reduced appeal liability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19672"/>
            <a:ext cx="9144000" cy="33832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4320" y="6556248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4748B"/>
                </a:solidFill>
                <a:latin typeface="Plus Jakarta Sans"/>
              </a:rPr>
              <a:t>IntelliPolicy AI  ·  Cotiviti Assessment  ·  Sohith Kampalli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87552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2801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4748B"/>
                </a:solidFill>
                <a:latin typeface="Plus Jakarta Sans"/>
              </a:rPr>
              <a:t>Proof of Concept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02336"/>
            <a:ext cx="256032" cy="27432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Plus Jakarta Sans"/>
              </a:rPr>
              <a:t>IntelliPolicy AI — How It Works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78992"/>
            <a:ext cx="8503920" cy="59436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078992"/>
            <a:ext cx="36576" cy="5943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152144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Plus Jakarta Sans"/>
              </a:rPr>
              <a:t>IntelliPolicy AI proves that written healthcare policy can be automatically ingested, queried in natural language, converted into structured business rules, and used to validate insurance claims — with a full audit trail on every decision.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819656"/>
            <a:ext cx="8229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64748B"/>
                </a:solidFill>
                <a:latin typeface="Plus Jakarta Sans"/>
              </a:rPr>
              <a:t>5-STEP PROCESSING PIPELINE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2121408"/>
            <a:ext cx="1572768" cy="2286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2121408"/>
            <a:ext cx="1572768" cy="36576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3192" y="2176272"/>
            <a:ext cx="142646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Plus Jakarta Sans"/>
              </a:rPr>
              <a:t>①
Upload
PDF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" y="2834640"/>
            <a:ext cx="142646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Plus Jakarta Sans"/>
              </a:rPr>
              <a:t>pdfplumber
extracts text
by page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11095" y="3063240"/>
            <a:ext cx="201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4748B"/>
                </a:solidFill>
                <a:latin typeface="Plus Jakarta Sans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39112" y="2121408"/>
            <a:ext cx="1572768" cy="2286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039112" y="2121408"/>
            <a:ext cx="1572768" cy="36576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12264" y="2176272"/>
            <a:ext cx="142646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Plus Jakarta Sans"/>
              </a:rPr>
              <a:t>②
Chunk &amp;
Embed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12264" y="2834640"/>
            <a:ext cx="142646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Plus Jakarta Sans"/>
              </a:rPr>
              <a:t>512-token chunks
BAA bge-small
384-dim vectors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0168" y="3063240"/>
            <a:ext cx="201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4748B"/>
                </a:solidFill>
                <a:latin typeface="Plus Jakarta Sans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58183" y="2121408"/>
            <a:ext cx="1572768" cy="2286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758183" y="2121408"/>
            <a:ext cx="1572768" cy="36576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31335" y="2176272"/>
            <a:ext cx="142646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Plus Jakarta Sans"/>
              </a:rPr>
              <a:t>③
Hybrid
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31335" y="2834640"/>
            <a:ext cx="142646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Plus Jakarta Sans"/>
              </a:rPr>
              <a:t>70% semantic
30% keyword
fused ranking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49240" y="3063240"/>
            <a:ext cx="201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4748B"/>
                </a:solidFill>
                <a:latin typeface="Plus Jakarta Sans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77255" y="2121408"/>
            <a:ext cx="1572768" cy="2286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77255" y="2121408"/>
            <a:ext cx="1572768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50407" y="2176272"/>
            <a:ext cx="142646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Plus Jakarta Sans"/>
              </a:rPr>
              <a:t>④
LLM
Generate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50407" y="2834640"/>
            <a:ext cx="142646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Plus Jakarta Sans"/>
              </a:rPr>
              <a:t>Gemini / Claude
structured JSON
with citations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68312" y="3063240"/>
            <a:ext cx="201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4748B"/>
                </a:solidFill>
                <a:latin typeface="Plus Jakarta Sans"/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96327" y="2121408"/>
            <a:ext cx="1572768" cy="2286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196327" y="2121408"/>
            <a:ext cx="1572768" cy="36576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69479" y="2176272"/>
            <a:ext cx="142646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Plus Jakarta Sans"/>
              </a:rPr>
              <a:t>⑤
Audit &amp;
Validate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69479" y="2834640"/>
            <a:ext cx="142646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Plus Jakarta Sans"/>
              </a:rPr>
              <a:t>Rule extraction
Claims check
Full audit log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4553712"/>
            <a:ext cx="8229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64748B"/>
                </a:solidFill>
                <a:latin typeface="Plus Jakarta Sans"/>
              </a:rPr>
              <a:t>6 WORKING FEATURES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4873752"/>
            <a:ext cx="2697480" cy="566928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20040" y="4873752"/>
            <a:ext cx="36576" cy="56692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4928616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Plus Jakarta Sans"/>
              </a:rPr>
              <a:t>📥 Upload Documents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5193792"/>
            <a:ext cx="2468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Plus Jakarta Sans"/>
              </a:rPr>
              <a:t>Ingest any policy PDF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72968" y="4873752"/>
            <a:ext cx="2697480" cy="566928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172968" y="4873752"/>
            <a:ext cx="36576" cy="566928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10128" y="4928616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Plus Jakarta Sans"/>
              </a:rPr>
              <a:t>🤖 AI Assistant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310128" y="5193792"/>
            <a:ext cx="2468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Plus Jakarta Sans"/>
              </a:rPr>
              <a:t>Natural language Q&amp;A with citations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25896" y="4873752"/>
            <a:ext cx="2697480" cy="566928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025896" y="4873752"/>
            <a:ext cx="36576" cy="566928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63056" y="4928616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Plus Jakarta Sans"/>
              </a:rPr>
              <a:t>⚖  Policy Compare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63056" y="5193792"/>
            <a:ext cx="2468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Plus Jakarta Sans"/>
              </a:rPr>
              <a:t>Version diff with risk scoring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" y="5532120"/>
            <a:ext cx="2697480" cy="566928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20040" y="5532120"/>
            <a:ext cx="36576" cy="566928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5586983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Plus Jakarta Sans"/>
              </a:rPr>
              <a:t>📋 Rule Extraction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" y="5852159"/>
            <a:ext cx="2468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Plus Jakarta Sans"/>
              </a:rPr>
              <a:t>IF/THEN business rule parser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172968" y="5532120"/>
            <a:ext cx="2697480" cy="566928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172968" y="5532120"/>
            <a:ext cx="36576" cy="56692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310128" y="5586983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Plus Jakarta Sans"/>
              </a:rPr>
              <a:t>🛡 Claims Validator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310128" y="5852159"/>
            <a:ext cx="2468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Plus Jakarta Sans"/>
              </a:rPr>
              <a:t>CPT + ICD-10 claim decision engine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025896" y="5532120"/>
            <a:ext cx="2697480" cy="566928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025896" y="5532120"/>
            <a:ext cx="36576" cy="566928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163056" y="5586983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Plus Jakarta Sans"/>
              </a:rPr>
              <a:t>🔎 Audit Trail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63056" y="5852159"/>
            <a:ext cx="2468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Plus Jakarta Sans"/>
              </a:rPr>
              <a:t>Full immutable decision log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19672"/>
            <a:ext cx="9144000" cy="338328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4320" y="6556248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4748B"/>
                </a:solidFill>
                <a:latin typeface="Plus Jakarta Sans"/>
              </a:rPr>
              <a:t>IntelliPolicy AI  ·  Cotiviti Assessment  ·  Sohith Kampalli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4748B"/>
                </a:solidFill>
                <a:latin typeface="Plus Jakarta Sans"/>
              </a:rPr>
              <a:t>Proof of Concept  ·  Live Demo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402336"/>
            <a:ext cx="256032" cy="27432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11827"/>
                </a:solidFill>
                <a:latin typeface="Plus Jakarta Sans"/>
              </a:rPr>
              <a:t>Feature Walkthrough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4251960" cy="16642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115568"/>
            <a:ext cx="4251960" cy="1828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2761488"/>
            <a:ext cx="4251960" cy="1828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115568"/>
            <a:ext cx="4251960" cy="36576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1115568"/>
            <a:ext cx="777240" cy="166420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4904" y="1618488"/>
            <a:ext cx="6675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Plus Jakarta Sans"/>
              </a:rPr>
              <a:t>Step 1
Upload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6152" y="1252728"/>
            <a:ext cx="3218688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74151"/>
                </a:solidFill>
                <a:latin typeface="Plus Jakarta Sans"/>
              </a:rPr>
              <a:t>Load Prior Auth Policy PDF → system chunks into 512-token segments,
embeds with BAAI/bge-small-en-v1.5 → indexed in ~10 seconds.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79" y="1115568"/>
            <a:ext cx="4251960" cy="16642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54879" y="1115568"/>
            <a:ext cx="4251960" cy="1828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54879" y="2761488"/>
            <a:ext cx="4251960" cy="1828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754879" y="1115568"/>
            <a:ext cx="4251960" cy="36576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754879" y="1115568"/>
            <a:ext cx="777240" cy="166420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3" y="1618488"/>
            <a:ext cx="6675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Plus Jakarta Sans"/>
              </a:rPr>
              <a:t>Step 2
AI Q&amp;A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50992" y="1252728"/>
            <a:ext cx="3218688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74151"/>
                </a:solidFill>
                <a:latin typeface="Plus Jakarta Sans"/>
              </a:rPr>
              <a:t>Ask 'What requires prior authorization?' → RAG retrieves 5 chunks,
filters boilerplate → Gemini returns structured answer with page citations.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2926080"/>
            <a:ext cx="4251960" cy="16642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0040" y="2926080"/>
            <a:ext cx="4251960" cy="1828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0040" y="4572000"/>
            <a:ext cx="4251960" cy="1828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20040" y="2926080"/>
            <a:ext cx="4251960" cy="36576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0040" y="2926080"/>
            <a:ext cx="777240" cy="166420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74904" y="3429000"/>
            <a:ext cx="6675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Plus Jakarta Sans"/>
              </a:rPr>
              <a:t>Step 3
Compare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16152" y="3063240"/>
            <a:ext cx="3218688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74151"/>
                </a:solidFill>
                <a:latin typeface="Plus Jakarta Sans"/>
              </a:rPr>
              <a:t>Select two policy versions → AI surfaces every change: old value,
new value, risk level — in seconds instead of hours.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54879" y="2926080"/>
            <a:ext cx="4251960" cy="16642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754879" y="2926080"/>
            <a:ext cx="4251960" cy="1828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754879" y="4572000"/>
            <a:ext cx="4251960" cy="1828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754879" y="2926080"/>
            <a:ext cx="425196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754879" y="2926080"/>
            <a:ext cx="777240" cy="166420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09743" y="3429000"/>
            <a:ext cx="6675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Plus Jakarta Sans"/>
              </a:rPr>
              <a:t>Step 4
Rule Extraction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50992" y="3063240"/>
            <a:ext cx="3218688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74151"/>
                </a:solidFill>
                <a:latin typeface="Plus Jakarta Sans"/>
              </a:rPr>
              <a:t>Select document → Extract → LLM parses policy into IF/THEN business
rules with CPT codes, plan types, and prior-auth flags. Export as JSON.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4736592"/>
            <a:ext cx="4251960" cy="16642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20040" y="4736592"/>
            <a:ext cx="4251960" cy="1828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20040" y="6382512"/>
            <a:ext cx="4251960" cy="1828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20040" y="4736592"/>
            <a:ext cx="4251960" cy="36576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20040" y="4736592"/>
            <a:ext cx="777240" cy="166420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4904" y="5239512"/>
            <a:ext cx="6675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Plus Jakarta Sans"/>
              </a:rPr>
              <a:t>Step 5
Claims Validator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16152" y="4873752"/>
            <a:ext cx="3218688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74151"/>
                </a:solidFill>
                <a:latin typeface="Plus Jakarta Sans"/>
              </a:rPr>
              <a:t>CPT code auto-travels from rules page → add diagnosis code → Validate.
Returns: Approved / Denied / Needs Review + policy source + confidence.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754879" y="4736592"/>
            <a:ext cx="4251960" cy="16642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754879" y="4736592"/>
            <a:ext cx="4251960" cy="1828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754879" y="6382512"/>
            <a:ext cx="4251960" cy="1828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754879" y="4736592"/>
            <a:ext cx="4251960" cy="36576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754879" y="4736592"/>
            <a:ext cx="777240" cy="166420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809743" y="5239512"/>
            <a:ext cx="6675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Plus Jakarta Sans"/>
              </a:rPr>
              <a:t>Step 6
Audit Trail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50992" y="4873752"/>
            <a:ext cx="3218688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74151"/>
                </a:solidFill>
                <a:latin typeface="Plus Jakarta Sans"/>
              </a:rPr>
              <a:t>Every AI decision logged with: retrieved pages, reasoning steps,
evidence quotes, confidence score — exportable compliance record.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6519672"/>
            <a:ext cx="9144000" cy="33832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4320" y="6556248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4748B"/>
                </a:solidFill>
                <a:latin typeface="Plus Jakarta Sans"/>
              </a:rPr>
              <a:t>IntelliPolicy AI  ·  Cotiviti Assessment  ·  Sohith Kampalli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82880"/>
            <a:ext cx="8686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4748B"/>
                </a:solidFill>
                <a:latin typeface="Plus Jakarta Sans"/>
              </a:rPr>
              <a:t>C O T I V I T I  ·  I N T E R N  A S S E S S M E N T</a:t>
            </a:r>
          </a:p>
        </p:txBody>
      </p:sp>
      <p:sp>
        <p:nvSpPr>
          <p:cNvPr id="4" name="Rectangle 3"/>
          <p:cNvSpPr/>
          <p:nvPr/>
        </p:nvSpPr>
        <p:spPr>
          <a:xfrm>
            <a:off x="292608" y="658368"/>
            <a:ext cx="8412480" cy="18288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822960"/>
            <a:ext cx="8229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Plus Jakarta Sans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1691640"/>
            <a:ext cx="8229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94A3B8"/>
                </a:solidFill>
                <a:latin typeface="Plus Jakarta Sans"/>
              </a:rPr>
              <a:t>Questions &amp; Discussion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" y="2249424"/>
            <a:ext cx="8412480" cy="18288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2423160"/>
            <a:ext cx="3657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  <a:latin typeface="Plus Jakarta Sans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423160"/>
            <a:ext cx="7955279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Plus Jakarta Sans"/>
              </a:rPr>
              <a:t>Topic 3 — Content Management in Healthcare: policies, summarization, rule conversion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" y="2935224"/>
            <a:ext cx="3657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  <a:latin typeface="Plus Jakarta Sans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2935224"/>
            <a:ext cx="7955279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Plus Jakarta Sans"/>
              </a:rPr>
              <a:t>POC proves: PDF → RAG → structured rules → claims validation → audit trail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" y="3447288"/>
            <a:ext cx="3657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  <a:latin typeface="Plus Jakarta Sans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3447288"/>
            <a:ext cx="7955279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Plus Jakarta Sans"/>
              </a:rPr>
              <a:t>3 strategic proposals: Policy Intelligence Layer · Rule Automation · AI Audit Trail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" y="3959352"/>
            <a:ext cx="3657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  <a:latin typeface="Plus Jakarta Sans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3959352"/>
            <a:ext cx="7955279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Plus Jakarta Sans"/>
              </a:rPr>
              <a:t>Directly relevant to Cotiviti's payment accuracy and clinical intelligence products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2608" y="4498848"/>
            <a:ext cx="8412480" cy="18288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466344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Plus Jakarta Sans"/>
              </a:rPr>
              <a:t>Developer: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12848" y="4663440"/>
            <a:ext cx="6675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Plus Jakarta Sans"/>
              </a:rPr>
              <a:t>Sohith Kampalli  ·  sohithkampalli@gmail.com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5047488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Plus Jakarta Sans"/>
              </a:rPr>
              <a:t>GitHub: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12848" y="5047488"/>
            <a:ext cx="6675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Plus Jakarta Sans"/>
              </a:rPr>
              <a:t>github.com/sohithk2002/intellipolicy-ai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" y="5431536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Plus Jakarta Sans"/>
              </a:rPr>
              <a:t>Submitted to: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12848" y="5431536"/>
            <a:ext cx="6675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Plus Jakarta Sans"/>
              </a:rPr>
              <a:t>jesus.hurtado@cotiviti.com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" y="5815583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Plus Jakarta Sans"/>
              </a:rPr>
              <a:t>Institution: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12848" y="5815583"/>
            <a:ext cx="6675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Plus Jakarta Sans"/>
              </a:rPr>
              <a:t>University of North Texas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2608" y="6291072"/>
            <a:ext cx="8412480" cy="18288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2608" y="6016752"/>
            <a:ext cx="8595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1">
                <a:solidFill>
                  <a:srgbClr val="94A3B8"/>
                </a:solidFill>
                <a:latin typeface="Plus Jakarta Sans"/>
              </a:rPr>
              <a:t>"Turning written policy into intelligent, auditable decisions."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19672"/>
            <a:ext cx="9144000" cy="338328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4320" y="6556248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4748B"/>
                </a:solidFill>
                <a:latin typeface="Plus Jakarta Sans"/>
              </a:rPr>
              <a:t>IntelliPolicy AI  ·  Cotiviti Assessment  ·  Sohith Kampalli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